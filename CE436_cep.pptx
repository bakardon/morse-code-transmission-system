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428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02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-5-13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-5-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-5-9.svg"/><Relationship Id="rId5" Type="http://schemas.openxmlformats.org/officeDocument/2006/relationships/image" Target="../media/image8.png"/><Relationship Id="rId15" Type="http://schemas.openxmlformats.org/officeDocument/2006/relationships/image" Target="../media/image-5-15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media" Target="../media/media2.mp4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9.xml"/><Relationship Id="rId4" Type="http://schemas.openxmlformats.org/officeDocument/2006/relationships/video" Target="../media/media2.mp4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-9-6.svg"/><Relationship Id="rId12" Type="http://schemas.openxmlformats.org/officeDocument/2006/relationships/image" Target="../media/image-9-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-9-3.svg"/><Relationship Id="rId10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-9-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-10-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5.svg"/><Relationship Id="rId5" Type="http://schemas.openxmlformats.org/officeDocument/2006/relationships/image" Target="../media/image-10-3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42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FPGA-Based Morse Code Communication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3512106"/>
            <a:ext cx="72162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CE436 – Digital System Design | Complex Engineering Problem (CEP)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33951" y="4560927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Platform:</a:t>
            </a: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Digilent Nexys A7 (100 MHz FPGA)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33950" y="5689283"/>
            <a:ext cx="72162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Ahmad Mir </a:t>
            </a:r>
            <a:r>
              <a:rPr lang="en-US" sz="14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2022062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3951" y="5979557"/>
            <a:ext cx="72162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Abubakar Mazhar </a:t>
            </a:r>
            <a:r>
              <a:rPr lang="en-US" sz="14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2022039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33951" y="6269831"/>
            <a:ext cx="72162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Aqeeb Warriach </a:t>
            </a:r>
            <a:r>
              <a:rPr lang="en-US" sz="14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2022349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3790" y="3171944"/>
            <a:ext cx="30480" cy="3643313"/>
          </a:xfrm>
          <a:prstGeom prst="rect">
            <a:avLst/>
          </a:prstGeom>
          <a:solidFill>
            <a:srgbClr val="F5F5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514"/>
            <a:ext cx="7726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Objectives and Scope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7921"/>
            <a:ext cx="6407944" cy="2164675"/>
          </a:xfrm>
          <a:prstGeom prst="roundRect">
            <a:avLst>
              <a:gd name="adj" fmla="val 675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17921"/>
            <a:ext cx="121920" cy="216467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67521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Functionality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an FPGA-based system to accurately encode decimal digits (0–9) into standard Morse code elements.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17921"/>
            <a:ext cx="6408063" cy="2164675"/>
          </a:xfrm>
          <a:prstGeom prst="roundRect">
            <a:avLst>
              <a:gd name="adj" fmla="val 675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17921"/>
            <a:ext cx="121920" cy="216467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67521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Modes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support for single-digit transmission utilizing on-board switches and buttons.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164675"/>
          </a:xfrm>
          <a:prstGeom prst="roundRect">
            <a:avLst>
              <a:gd name="adj" fmla="val 675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16467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Timing Fidelity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142524" y="562808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 precise, real-time timing control and sequencing, leveraging the 100 MHz FPGA clock source for maximum accuracy.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164675"/>
          </a:xfrm>
          <a:prstGeom prst="roundRect">
            <a:avLst>
              <a:gd name="adj" fmla="val 675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164675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Target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777282" y="562808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successful synthesis, mapping, and physical implementation on the Digilent Nexys A7 FPGA development board.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2130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 Methodology: Architecture and Control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FSM-Centric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entire sequencing and timing generation is managed by a central Finite State Machine (FSM).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051334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Decoupled control logic facilitates modular testing and verification.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783330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timing is derived from the master 100 MHz clock using counter logic.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649272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Modular RTL Design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1638" y="524196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functional block (Debouncer, FIFO, FSM, Timing) was implemented as a separate, verifiable RTL module.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59739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VHDL/Verilog for hardware description, ensuring optimized resource utilization on the A7 FPGA.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16382" y="6758609"/>
            <a:ext cx="603647" cy="1421577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10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52" y="3311009"/>
            <a:ext cx="8632984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Architecture: Block Diagram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52" y="4262199"/>
            <a:ext cx="131906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is comprised of six primary modules, ensuring robust input handling, deterministic encoding, and precise output signaling.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9852" y="4822627"/>
            <a:ext cx="6492478" cy="1230630"/>
          </a:xfrm>
          <a:prstGeom prst="roundRect">
            <a:avLst>
              <a:gd name="adj" fmla="val 250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8333" y="505110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48333" y="5495687"/>
            <a:ext cx="603551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Switches &amp; Buttons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7951" y="4822627"/>
            <a:ext cx="6492597" cy="1230630"/>
          </a:xfrm>
          <a:prstGeom prst="roundRect">
            <a:avLst>
              <a:gd name="adj" fmla="val 250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6432" y="505110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46432" y="5495687"/>
            <a:ext cx="6035635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Debounce &amp; FIFO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9852" y="6258878"/>
            <a:ext cx="6492478" cy="1230630"/>
          </a:xfrm>
          <a:prstGeom prst="roundRect">
            <a:avLst>
              <a:gd name="adj" fmla="val 250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8333" y="648735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Logic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48333" y="6931938"/>
            <a:ext cx="603551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Morse LUT &amp; FSM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17951" y="6258878"/>
            <a:ext cx="6492597" cy="1230630"/>
          </a:xfrm>
          <a:prstGeom prst="roundRect">
            <a:avLst>
              <a:gd name="adj" fmla="val 250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46432" y="6487358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646432" y="6931938"/>
            <a:ext cx="6035635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LED &amp; 7-Segment</a:t>
            </a: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5489"/>
          <a:stretch/>
        </p:blipFill>
        <p:spPr>
          <a:xfrm>
            <a:off x="2146852" y="0"/>
            <a:ext cx="9966543" cy="2571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16200000">
            <a:off x="13407987" y="7035847"/>
            <a:ext cx="549711" cy="1703729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109" y="391954"/>
            <a:ext cx="6214229" cy="43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FSM and Deterministic Timing Control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89109" y="1177766"/>
            <a:ext cx="3312557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Finite State Machine (FSM) States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9" y="1596985"/>
            <a:ext cx="698659" cy="721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7428" y="1596985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27428" y="1954887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Awaiting input trigger.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09" y="2457807"/>
            <a:ext cx="698659" cy="721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7428" y="2457807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FETCH_DIGIT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27428" y="2815709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Retrieving next digit from FIFO.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09" y="3318629"/>
            <a:ext cx="698659" cy="721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7428" y="3318629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LOAD_PATTERN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327428" y="3676531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Accessing Morse pattern via LUT.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09" y="4179451"/>
            <a:ext cx="698659" cy="721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7428" y="4179451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SEND_ELEMENT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327428" y="4537353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transmission (Dot/Dash).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09" y="5040273"/>
            <a:ext cx="698659" cy="7211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7428" y="5040273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ELEMENT_GAP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327428" y="5398175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pause between elements.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109" y="5901095"/>
            <a:ext cx="698659" cy="72116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27428" y="5901095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DIGIT_GAP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1327428" y="6258997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pause between digits.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109" y="6761917"/>
            <a:ext cx="698659" cy="72116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27428" y="6761917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DONE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1327428" y="7119818"/>
            <a:ext cx="721661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Transmission complete.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8892421" y="1177766"/>
            <a:ext cx="3214092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Timing Rules (Unit Time 't' = 0.5s)</a:t>
            </a:r>
            <a:endParaRPr lang="en-US" sz="1650" dirty="0"/>
          </a:p>
        </p:txBody>
      </p:sp>
      <p:sp>
        <p:nvSpPr>
          <p:cNvPr id="26" name="Shape 17"/>
          <p:cNvSpPr/>
          <p:nvPr/>
        </p:nvSpPr>
        <p:spPr>
          <a:xfrm>
            <a:off x="8892421" y="1806535"/>
            <a:ext cx="5256371" cy="1085731"/>
          </a:xfrm>
          <a:prstGeom prst="roundRect">
            <a:avLst>
              <a:gd name="adj" fmla="val 6738"/>
            </a:avLst>
          </a:prstGeom>
          <a:solidFill>
            <a:srgbClr val="1F1F1F"/>
          </a:solidFill>
          <a:ln/>
        </p:spPr>
      </p:sp>
      <p:sp>
        <p:nvSpPr>
          <p:cNvPr id="27" name="Shape 18"/>
          <p:cNvSpPr/>
          <p:nvPr/>
        </p:nvSpPr>
        <p:spPr>
          <a:xfrm>
            <a:off x="8892421" y="1791295"/>
            <a:ext cx="5256371" cy="60960"/>
          </a:xfrm>
          <a:prstGeom prst="roundRect">
            <a:avLst>
              <a:gd name="adj" fmla="val 34388"/>
            </a:avLst>
          </a:prstGeom>
          <a:solidFill>
            <a:srgbClr val="F5F547"/>
          </a:solidFill>
          <a:ln/>
        </p:spPr>
      </p:sp>
      <p:sp>
        <p:nvSpPr>
          <p:cNvPr id="28" name="Shape 19"/>
          <p:cNvSpPr/>
          <p:nvPr/>
        </p:nvSpPr>
        <p:spPr>
          <a:xfrm>
            <a:off x="11310997" y="1596985"/>
            <a:ext cx="419219" cy="419219"/>
          </a:xfrm>
          <a:prstGeom prst="roundRect">
            <a:avLst>
              <a:gd name="adj" fmla="val 218120"/>
            </a:avLst>
          </a:prstGeom>
          <a:solidFill>
            <a:srgbClr val="F5F547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6727" y="1722715"/>
            <a:ext cx="167640" cy="16764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047321" y="2155865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Dot Duration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9047321" y="2513767"/>
            <a:ext cx="494657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2t (1.0 second)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8892421" y="3241477"/>
            <a:ext cx="5256371" cy="1085731"/>
          </a:xfrm>
          <a:prstGeom prst="roundRect">
            <a:avLst>
              <a:gd name="adj" fmla="val 6738"/>
            </a:avLst>
          </a:prstGeom>
          <a:solidFill>
            <a:srgbClr val="1F1F1F"/>
          </a:solidFill>
          <a:ln/>
        </p:spPr>
      </p:sp>
      <p:sp>
        <p:nvSpPr>
          <p:cNvPr id="33" name="Shape 23"/>
          <p:cNvSpPr/>
          <p:nvPr/>
        </p:nvSpPr>
        <p:spPr>
          <a:xfrm>
            <a:off x="8892421" y="3226237"/>
            <a:ext cx="5256371" cy="60960"/>
          </a:xfrm>
          <a:prstGeom prst="roundRect">
            <a:avLst>
              <a:gd name="adj" fmla="val 34388"/>
            </a:avLst>
          </a:prstGeom>
          <a:solidFill>
            <a:srgbClr val="F5F547"/>
          </a:solidFill>
          <a:ln/>
        </p:spPr>
      </p:sp>
      <p:sp>
        <p:nvSpPr>
          <p:cNvPr id="34" name="Shape 24"/>
          <p:cNvSpPr/>
          <p:nvPr/>
        </p:nvSpPr>
        <p:spPr>
          <a:xfrm>
            <a:off x="11310997" y="3031927"/>
            <a:ext cx="419219" cy="419219"/>
          </a:xfrm>
          <a:prstGeom prst="roundRect">
            <a:avLst>
              <a:gd name="adj" fmla="val 218120"/>
            </a:avLst>
          </a:prstGeom>
          <a:solidFill>
            <a:srgbClr val="F5F547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36727" y="3157657"/>
            <a:ext cx="167640" cy="1676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047321" y="3590806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 Duration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047321" y="3948708"/>
            <a:ext cx="494657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6t (3.0 seconds)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8892421" y="4676418"/>
            <a:ext cx="5256371" cy="1085731"/>
          </a:xfrm>
          <a:prstGeom prst="roundRect">
            <a:avLst>
              <a:gd name="adj" fmla="val 6738"/>
            </a:avLst>
          </a:prstGeom>
          <a:solidFill>
            <a:srgbClr val="1F1F1F"/>
          </a:solidFill>
          <a:ln/>
        </p:spPr>
      </p:sp>
      <p:sp>
        <p:nvSpPr>
          <p:cNvPr id="39" name="Shape 28"/>
          <p:cNvSpPr/>
          <p:nvPr/>
        </p:nvSpPr>
        <p:spPr>
          <a:xfrm>
            <a:off x="8892421" y="4661178"/>
            <a:ext cx="5256371" cy="60960"/>
          </a:xfrm>
          <a:prstGeom prst="roundRect">
            <a:avLst>
              <a:gd name="adj" fmla="val 34388"/>
            </a:avLst>
          </a:prstGeom>
          <a:solidFill>
            <a:srgbClr val="F5F547"/>
          </a:solidFill>
          <a:ln/>
        </p:spPr>
      </p:sp>
      <p:sp>
        <p:nvSpPr>
          <p:cNvPr id="40" name="Shape 29"/>
          <p:cNvSpPr/>
          <p:nvPr/>
        </p:nvSpPr>
        <p:spPr>
          <a:xfrm>
            <a:off x="11310997" y="4466868"/>
            <a:ext cx="419219" cy="419219"/>
          </a:xfrm>
          <a:prstGeom prst="roundRect">
            <a:avLst>
              <a:gd name="adj" fmla="val 218120"/>
            </a:avLst>
          </a:prstGeom>
          <a:solidFill>
            <a:srgbClr val="F5F547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6727" y="4592598"/>
            <a:ext cx="167640" cy="16764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047321" y="5025747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Element Gap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9047321" y="5383649"/>
            <a:ext cx="494657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1t (0.5 second)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8892421" y="6111359"/>
            <a:ext cx="5256371" cy="1085731"/>
          </a:xfrm>
          <a:prstGeom prst="roundRect">
            <a:avLst>
              <a:gd name="adj" fmla="val 6738"/>
            </a:avLst>
          </a:prstGeom>
          <a:solidFill>
            <a:srgbClr val="1F1F1F"/>
          </a:solidFill>
          <a:ln/>
        </p:spPr>
      </p:sp>
      <p:sp>
        <p:nvSpPr>
          <p:cNvPr id="45" name="Shape 33"/>
          <p:cNvSpPr/>
          <p:nvPr/>
        </p:nvSpPr>
        <p:spPr>
          <a:xfrm>
            <a:off x="8892421" y="6096119"/>
            <a:ext cx="5256371" cy="60960"/>
          </a:xfrm>
          <a:prstGeom prst="roundRect">
            <a:avLst>
              <a:gd name="adj" fmla="val 34388"/>
            </a:avLst>
          </a:prstGeom>
          <a:solidFill>
            <a:srgbClr val="F5F547"/>
          </a:solidFill>
          <a:ln/>
        </p:spPr>
      </p:sp>
      <p:sp>
        <p:nvSpPr>
          <p:cNvPr id="46" name="Shape 34"/>
          <p:cNvSpPr/>
          <p:nvPr/>
        </p:nvSpPr>
        <p:spPr>
          <a:xfrm>
            <a:off x="11310997" y="5901809"/>
            <a:ext cx="419219" cy="419219"/>
          </a:xfrm>
          <a:prstGeom prst="roundRect">
            <a:avLst>
              <a:gd name="adj" fmla="val 218120"/>
            </a:avLst>
          </a:prstGeom>
          <a:solidFill>
            <a:srgbClr val="F5F547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36727" y="6027539"/>
            <a:ext cx="167640" cy="16764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9047321" y="6460688"/>
            <a:ext cx="174676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 Gap</a:t>
            </a:r>
            <a:endParaRPr lang="en-US" sz="1350" dirty="0"/>
          </a:p>
        </p:txBody>
      </p:sp>
      <p:sp>
        <p:nvSpPr>
          <p:cNvPr id="49" name="Text 36"/>
          <p:cNvSpPr/>
          <p:nvPr/>
        </p:nvSpPr>
        <p:spPr>
          <a:xfrm>
            <a:off x="9047321" y="6818590"/>
            <a:ext cx="494657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4t (2.0 seconds)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8892421" y="7354253"/>
            <a:ext cx="5256371" cy="35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rules are strictly based on standard Morse code conventions, with timing scaled for visual clarity.</a:t>
            </a:r>
            <a:endParaRPr lang="en-US" sz="850" dirty="0"/>
          </a:p>
        </p:txBody>
      </p:sp>
      <p:sp>
        <p:nvSpPr>
          <p:cNvPr id="51" name="TextBox 50"/>
          <p:cNvSpPr txBox="1"/>
          <p:nvPr/>
        </p:nvSpPr>
        <p:spPr>
          <a:xfrm rot="16200000">
            <a:off x="13407987" y="7035847"/>
            <a:ext cx="549711" cy="1703729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647" y="474226"/>
            <a:ext cx="6205657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Verification: Simulation Results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3647" y="1358146"/>
            <a:ext cx="13423106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Extensive simulation was performed to ensure precise FSM sequencing and accurate timing before hardware synthesis.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647" y="2000488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Testbench Strategy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3647" y="2496264"/>
            <a:ext cx="6501170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single-digit FSM flow, confirming 1:3 ratio for Dot:Dash durations.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647" y="2832616"/>
            <a:ext cx="6501170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Multi-digit verification confirmed FIFO handling and correct sequencing of </a:t>
            </a:r>
            <a:r>
              <a:rPr lang="en-US" sz="13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 Gap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transmissions.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647" y="3444954"/>
            <a:ext cx="6501170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Accelerated simulation timing (reduced clock speed) was used to compress waveform visualization.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647" y="4322218"/>
            <a:ext cx="6501170" cy="1573815"/>
          </a:xfrm>
          <a:prstGeom prst="roundRect">
            <a:avLst>
              <a:gd name="adj" fmla="val 1498"/>
            </a:avLst>
          </a:prstGeom>
          <a:solidFill>
            <a:srgbClr val="49490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9" y="4554867"/>
            <a:ext cx="269438" cy="2155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7889" y="4537722"/>
            <a:ext cx="5222667" cy="1226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 smtClean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Simulation </a:t>
            </a: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Waveforms </a:t>
            </a:r>
            <a:r>
              <a:rPr lang="en-US" sz="1650" dirty="0" smtClean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</a:p>
          <a:p>
            <a:pPr>
              <a:lnSpc>
                <a:spcPts val="2100"/>
              </a:lnSpc>
            </a:pPr>
            <a:r>
              <a:rPr lang="en-US" sz="1600" dirty="0" smtClean="0">
                <a:solidFill>
                  <a:schemeClr val="bg1">
                    <a:lumMod val="95000"/>
                  </a:schemeClr>
                </a:solidFill>
              </a:rPr>
              <a:t> The clock, FSM state transitions,</a:t>
            </a:r>
          </a:p>
          <a:p>
            <a:pPr>
              <a:lnSpc>
                <a:spcPts val="2100"/>
              </a:lnSpc>
            </a:pPr>
            <a:r>
              <a:rPr lang="en-US" sz="1600" dirty="0" smtClean="0">
                <a:solidFill>
                  <a:schemeClr val="bg1">
                    <a:lumMod val="95000"/>
                  </a:schemeClr>
                </a:solidFill>
              </a:rPr>
              <a:t> and LED output signal can be seen</a:t>
            </a:r>
          </a:p>
          <a:p>
            <a:pPr>
              <a:lnSpc>
                <a:spcPts val="2100"/>
              </a:lnSpc>
            </a:pPr>
            <a:r>
              <a:rPr lang="en-US" sz="1600" dirty="0" smtClean="0">
                <a:solidFill>
                  <a:schemeClr val="bg1">
                    <a:lumMod val="95000"/>
                  </a:schemeClr>
                </a:solidFill>
              </a:rPr>
              <a:t> demonstrating the correct timing sequence.</a:t>
            </a: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03" y="2022038"/>
            <a:ext cx="6501170" cy="6501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823" y="2979161"/>
            <a:ext cx="6493550" cy="43440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041993" y="6777297"/>
            <a:ext cx="603647" cy="1421577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989" y="531971"/>
            <a:ext cx="8569047" cy="60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Implementation and Results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6989" y="1523286"/>
            <a:ext cx="1327642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synthesized design was successfully deployed to the Nexys A7, validating the real-world performance of the system.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89" y="2050375"/>
            <a:ext cx="4264223" cy="2635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989" y="4879181"/>
            <a:ext cx="241815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Successful Synthesis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6989" y="5297329"/>
            <a:ext cx="4264223" cy="928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design met all timing constraints and utilized resources efficiently, confirming RTL quality.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029" y="2050375"/>
            <a:ext cx="4264223" cy="2635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3029" y="4879181"/>
            <a:ext cx="241815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Operation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183029" y="5297329"/>
            <a:ext cx="4264223" cy="928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Observed LED output timing confirmed simulation results, demonstrating accurate real-time response to input changes.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068" y="2050375"/>
            <a:ext cx="4264223" cy="26354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9068" y="4879181"/>
            <a:ext cx="241815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 Validation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689068" y="5297329"/>
            <a:ext cx="426422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input from switches and buttons was robustly handled by the debouncer module.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967145" y="6733699"/>
            <a:ext cx="486227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Explicit Placeholder for FPGA Board Photos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967145" y="7326035"/>
            <a:ext cx="12986266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Photos should showcase the Nexys A7 board with visible connections and the output LEDs/7-segment display.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76989" y="6443543"/>
            <a:ext cx="22860" cy="1409581"/>
          </a:xfrm>
          <a:prstGeom prst="rect">
            <a:avLst/>
          </a:prstGeom>
          <a:solidFill>
            <a:srgbClr val="F5F547"/>
          </a:solidFill>
          <a:ln/>
        </p:spPr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2"/>
          <a:stretch/>
        </p:blipFill>
        <p:spPr>
          <a:xfrm>
            <a:off x="5968612" y="2116041"/>
            <a:ext cx="2693055" cy="25041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16200000">
            <a:off x="13407987" y="7035847"/>
            <a:ext cx="549711" cy="1703729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79319"/>
            <a:ext cx="14630400" cy="22502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9420" y="899159"/>
            <a:ext cx="5419963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FPGA Demonstration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39420" y="1731763"/>
            <a:ext cx="13370243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following demonstration showcases the system's core functionality, highlighting robust input handling and accurate Morse output timing.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39420" y="2289809"/>
            <a:ext cx="12841962" cy="112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0"/>
              </a:lnSpc>
              <a:buNone/>
            </a:pPr>
            <a:r>
              <a:rPr lang="en-US" sz="7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/ Video Placeholder</a:t>
            </a:r>
            <a:endParaRPr lang="en-US" sz="7050" dirty="0"/>
          </a:p>
        </p:txBody>
      </p:sp>
      <p:sp>
        <p:nvSpPr>
          <p:cNvPr id="6" name="Shape 3"/>
          <p:cNvSpPr/>
          <p:nvPr/>
        </p:nvSpPr>
        <p:spPr>
          <a:xfrm>
            <a:off x="439420" y="3684984"/>
            <a:ext cx="6595110" cy="1082993"/>
          </a:xfrm>
          <a:prstGeom prst="roundRect">
            <a:avLst>
              <a:gd name="adj" fmla="val 249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302" y="3887866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1: Single Digit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2302" y="4277081"/>
            <a:ext cx="6189345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Entering a digit (e.g., '0') and verifying the 5-dash sequence.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14552" y="3684984"/>
            <a:ext cx="6595110" cy="1082993"/>
          </a:xfrm>
          <a:prstGeom prst="roundRect">
            <a:avLst>
              <a:gd name="adj" fmla="val 249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17435" y="3887866"/>
            <a:ext cx="250959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2: Multi-Digit Mode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417435" y="4277081"/>
            <a:ext cx="6189345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Entering a number (e.g., '42') and observing the correct digit spacing.</a:t>
            </a:r>
            <a:endParaRPr lang="en-US" sz="1400" dirty="0"/>
          </a:p>
        </p:txBody>
      </p:sp>
      <p:pic>
        <p:nvPicPr>
          <p:cNvPr id="13" name="WhatsApp Video 2025-12-24 at 10.16.03 P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-1615" t="14432" r="1615" b="31329"/>
          <a:stretch/>
        </p:blipFill>
        <p:spPr>
          <a:xfrm>
            <a:off x="2133499" y="4970859"/>
            <a:ext cx="3206949" cy="3091553"/>
          </a:xfrm>
          <a:prstGeom prst="rect">
            <a:avLst/>
          </a:prstGeom>
        </p:spPr>
      </p:pic>
      <p:pic>
        <p:nvPicPr>
          <p:cNvPr id="14" name="WhatsApp Video 2025-12-24 at 10.25.39 PM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9"/>
          <a:srcRect l="14140" t="-1" r="21334" b="586"/>
          <a:stretch/>
        </p:blipFill>
        <p:spPr>
          <a:xfrm rot="10800000">
            <a:off x="8774747" y="4970859"/>
            <a:ext cx="3474720" cy="3017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0950"/>
            <a:ext cx="11949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Challenges and Engineering Lessons Learned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3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provided critical experience in bridging theoretical digital design with practical hardware constraints.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668066" y="2711410"/>
            <a:ext cx="30244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Precise Timing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01829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Mastering clock division techniques to derive multi-second timing from a 100 MHz source was the key challenge.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52794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Asynchronous Inputs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201829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necessity of synchronization and debouncing circuits for reliable interaction with physical buttons and switches.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2604" y="3916442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4993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FSM Sequencing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5484019"/>
            <a:ext cx="3898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Implementing robust state transitions to handle the varying length of Morse patterns and multi-digit sequencing proved complex but rewarding.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4103" y="6142315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12846" y="5175052"/>
            <a:ext cx="2879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Modular Design Value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665470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Confirmed that well-defined RTL modules significantly simplify verification, integration, and debugging in a large system.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8230" y="5753814"/>
            <a:ext cx="339328" cy="339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 rot="16200000">
            <a:off x="13407987" y="7035847"/>
            <a:ext cx="549711" cy="1703729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531" y="342186"/>
            <a:ext cx="4111704" cy="38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and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5531" y="979884"/>
            <a:ext cx="13759339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successfully implemented a fully functional, robust, and accurate FPGA-based Morse code encoder, meeting all CEP requirements.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5531" y="1443276"/>
            <a:ext cx="1866543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Summary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5531" y="1801058"/>
            <a:ext cx="6727865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accurate, deterministic timing behavior.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5531" y="2043589"/>
            <a:ext cx="6727865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design via comprehensive simulation and successful hardware deployment.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5531" y="2286119"/>
            <a:ext cx="6727865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Demonstrated strong alignment with CEP objectives through complex system integration.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31" y="2625090"/>
            <a:ext cx="6727865" cy="6727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74625" y="1443276"/>
            <a:ext cx="288798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Steps: Expanding Capability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1297" y="1820406"/>
            <a:ext cx="186571" cy="186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78961" y="1816537"/>
            <a:ext cx="182772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Alphabetical Support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78961" y="2135267"/>
            <a:ext cx="6323528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the Morse LUT and FSM to include letters (A-Z) and punctuation.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1297" y="2587050"/>
            <a:ext cx="186571" cy="1865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78961" y="2583180"/>
            <a:ext cx="15554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Alternative Outputs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878961" y="2901910"/>
            <a:ext cx="6323528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Audio tone generation or UART transmission capability.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1297" y="3353693"/>
            <a:ext cx="186571" cy="1865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78961" y="3349823"/>
            <a:ext cx="18317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Wireless Communication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878961" y="3668554"/>
            <a:ext cx="6323528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a transmission module (e.g., XBee) for short-range wireless Morse broadcasting.</a:t>
            </a:r>
            <a:endParaRPr lang="en-US" sz="95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13407987" y="7035847"/>
            <a:ext cx="549711" cy="1703729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827</Words>
  <Application>Microsoft Office PowerPoint</Application>
  <PresentationFormat>Custom</PresentationFormat>
  <Paragraphs>119</Paragraphs>
  <Slides>10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Medium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Bakar</dc:creator>
  <cp:lastModifiedBy>Bakar</cp:lastModifiedBy>
  <cp:revision>8</cp:revision>
  <dcterms:created xsi:type="dcterms:W3CDTF">2025-12-24T22:00:55Z</dcterms:created>
  <dcterms:modified xsi:type="dcterms:W3CDTF">2025-12-24T22:58:57Z</dcterms:modified>
</cp:coreProperties>
</file>